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64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49"/>
  </p:normalViewPr>
  <p:slideViewPr>
    <p:cSldViewPr snapToGrid="0">
      <p:cViewPr varScale="1">
        <p:scale>
          <a:sx n="77" d="100"/>
          <a:sy n="77" d="100"/>
        </p:scale>
        <p:origin x="224" y="1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B9BCE7-25E8-8C1B-6A63-AFEC6F201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2F500E-9E5C-BAA4-6047-D5A49EBCE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C2A2B3-2B33-094A-29C8-9F1B2B4DE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192F-372B-3842-9DBD-F86CEA98D4E3}" type="datetimeFigureOut">
              <a:rPr lang="ru-RU" smtClean="0"/>
              <a:t>01.01.2026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611FF2-D8A2-3319-C921-538125980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AA55BC-2EE8-DFA7-83FB-AB247D843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89BFF-17BB-414B-BAEF-1D54D1FAEC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43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14C755-EDB9-D72C-1C5D-9B6EE189D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C99BC6-025C-FE35-60BD-21F369626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6B9D34-D949-C4AB-4835-50935DD9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192F-372B-3842-9DBD-F86CEA98D4E3}" type="datetimeFigureOut">
              <a:rPr lang="ru-RU" smtClean="0"/>
              <a:t>01.01.2026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6DD6A8-6C7C-E0D8-4E65-D72B58754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09255E-08E9-BF99-F890-52A0114C2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89BFF-17BB-414B-BAEF-1D54D1FAEC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311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E67F25-0D5D-CBDF-D38D-26CFA379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E3A35A-6AFD-CB30-EA79-864545602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F519D0-7798-BB57-00E4-45583D33D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192F-372B-3842-9DBD-F86CEA98D4E3}" type="datetimeFigureOut">
              <a:rPr lang="ru-RU" smtClean="0"/>
              <a:t>01.01.2026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8C60B2-E189-0D68-A9C6-8463EE88C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9EBFC8-3BFA-0689-55CF-B97DE6147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89BFF-17BB-414B-BAEF-1D54D1FAEC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468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8D754F-7860-25DC-671C-46BADBABC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B1D12D-5217-D925-BADF-60363B60A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1B9A90-6E8B-8EFD-8151-CC58B96EA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0B4B62-6F01-6359-6BAB-68244CE7F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192F-372B-3842-9DBD-F86CEA98D4E3}" type="datetimeFigureOut">
              <a:rPr lang="ru-RU" smtClean="0"/>
              <a:t>01.01.2026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513BD9-CCF2-5AA9-942E-8290353D5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FE4B31-B872-401D-2991-80D2ACE5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89BFF-17BB-414B-BAEF-1D54D1FAEC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2524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75D794-C42C-B342-30D3-A274DE452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9F8FCB-D97C-BDDD-3E5C-01875DFF3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73C1C74-74BB-E99E-1DDB-1061D1705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81642E6-8689-5375-C961-A0CB9ADC5B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011828E-385D-B7CC-AB15-146184AED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F3BA9C5-CF13-2902-336B-B7A9C06C0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192F-372B-3842-9DBD-F86CEA98D4E3}" type="datetimeFigureOut">
              <a:rPr lang="ru-RU" smtClean="0"/>
              <a:t>01.01.2026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DBE422-C08C-0C61-93F1-B6D724A93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730FFA-4957-314E-BA2D-E6CAAA5E2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89BFF-17BB-414B-BAEF-1D54D1FAEC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99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DBA96-716E-9088-4BFF-75DA772FF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5F33B03-3F0C-167D-B950-71990F8EB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192F-372B-3842-9DBD-F86CEA98D4E3}" type="datetimeFigureOut">
              <a:rPr lang="ru-RU" smtClean="0"/>
              <a:t>01.01.2026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9D89870-A853-CEBE-6891-07BEB351E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980E21E-3126-0957-1F15-5FE59124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89BFF-17BB-414B-BAEF-1D54D1FAEC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33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6011519-E38E-8595-A8FC-D44C4C445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192F-372B-3842-9DBD-F86CEA98D4E3}" type="datetimeFigureOut">
              <a:rPr lang="ru-RU" smtClean="0"/>
              <a:t>01.01.2026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25B255D-1BF4-388A-D4CB-F07AFBADC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C77DF7-7EF7-B3CF-A5A7-70BD7F96C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89BFF-17BB-414B-BAEF-1D54D1FAEC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78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55985-6DC4-31FB-2D02-10132649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92686A-8BEA-ABA9-BCDF-91363519E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29AD8E-542E-5102-27D2-0DD96B54C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C124F16-7ADD-9A03-5E3B-DFC278E87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192F-372B-3842-9DBD-F86CEA98D4E3}" type="datetimeFigureOut">
              <a:rPr lang="ru-RU" smtClean="0"/>
              <a:t>01.01.2026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5E9150-8C17-C0B9-A533-C75975D1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715CC2-020C-9423-21FB-D19B5C72B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89BFF-17BB-414B-BAEF-1D54D1FAEC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411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6E56E2-0B97-1F59-3389-462B45C51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A283B19-D38D-75D5-FB65-A5D7F74B77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F7F240-4D1B-EADE-4EB4-0E3BFFC53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A1C6E3-11D7-052F-AB23-B5C3E3F94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192F-372B-3842-9DBD-F86CEA98D4E3}" type="datetimeFigureOut">
              <a:rPr lang="ru-RU" smtClean="0"/>
              <a:t>01.01.2026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50CA94-3A24-4490-785B-BAD726C8E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C46FA2-125B-C38C-1FC6-41DE1BC70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89BFF-17BB-414B-BAEF-1D54D1FAEC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912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6A872A-E6FE-1241-8604-28CF16F16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366C3C1-AC2C-D8AC-4F34-85AC1257F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3BC221-9F27-7041-91C7-7575AF084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192F-372B-3842-9DBD-F86CEA98D4E3}" type="datetimeFigureOut">
              <a:rPr lang="ru-RU" smtClean="0"/>
              <a:t>01.01.2026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D2F21E-5992-0CFA-AF1C-9E68B58E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94C145-B6B0-DAA7-352F-DAE996D16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89BFF-17BB-414B-BAEF-1D54D1FAEC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715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FD1A99B-28D8-60F9-556E-7C16B2A854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C37DF6A-C5BD-9F04-2B63-226E8BF1F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D546C3-B27D-C4D1-D1F0-2BC6672E7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192F-372B-3842-9DBD-F86CEA98D4E3}" type="datetimeFigureOut">
              <a:rPr lang="ru-RU" smtClean="0"/>
              <a:t>01.01.2026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693EF-4F3D-AD83-1674-05CA4EA2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10A5B8-9B79-A150-B708-8B6CDC249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89BFF-17BB-414B-BAEF-1D54D1FAEC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8914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87E13-BA2E-0009-D8A2-CCE2888E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C9B1E4-03BB-D7F2-F56E-FA96AEC9F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FC6237-36C2-89A1-6414-2414675A2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2192F-372B-3842-9DBD-F86CEA98D4E3}" type="datetimeFigureOut">
              <a:rPr lang="ru-RU" smtClean="0"/>
              <a:t>01.01.2026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1F7A57-258B-36F2-C8A9-724F1BBDB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90BEA1-B3B3-9C09-84EB-50DF5CCE4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89BFF-17BB-414B-BAEF-1D54D1FAEC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345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ctld.ru/about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FTP" TargetMode="External"/><Relationship Id="rId2" Type="http://schemas.openxmlformats.org/officeDocument/2006/relationships/hyperlink" Target="https://ru.wikipedia.org/wiki/HTTP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C3996-509B-453E-BB9C-2E6EB522F6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Организационная структура - подчинение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884810-A707-9ECA-3ED2-755A4A1647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897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C3996-509B-453E-BB9C-2E6EB522F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827315"/>
          </a:xfrm>
        </p:spPr>
        <p:txBody>
          <a:bodyPr>
            <a:normAutofit fontScale="90000"/>
          </a:bodyPr>
          <a:lstStyle/>
          <a:p>
            <a:r>
              <a:rPr lang="ru-RU" dirty="0"/>
              <a:t>Классификация друзей и их отношений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40A43F-C538-5B08-9AF4-E5B579828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64" y="827314"/>
            <a:ext cx="7348713" cy="560901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1780EE3-7112-A4B3-A18B-C609C37A1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3036" y="895893"/>
            <a:ext cx="2324100" cy="5651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4B4C25-BFFF-8133-0558-282195111447}"/>
              </a:ext>
            </a:extLst>
          </p:cNvPr>
          <p:cNvSpPr txBox="1"/>
          <p:nvPr/>
        </p:nvSpPr>
        <p:spPr>
          <a:xfrm>
            <a:off x="7115991" y="3429000"/>
            <a:ext cx="232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= КЛАССИФИКАЦИЯ =</a:t>
            </a:r>
          </a:p>
        </p:txBody>
      </p:sp>
    </p:spTree>
    <p:extLst>
      <p:ext uri="{BB962C8B-B14F-4D97-AF65-F5344CB8AC3E}">
        <p14:creationId xmlns:p14="http://schemas.microsoft.com/office/powerpoint/2010/main" val="440191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C3996-509B-453E-BB9C-2E6EB522F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792667"/>
          </a:xfrm>
        </p:spPr>
        <p:txBody>
          <a:bodyPr>
            <a:normAutofit/>
          </a:bodyPr>
          <a:lstStyle/>
          <a:p>
            <a:r>
              <a:rPr lang="ru-RU" sz="4800" dirty="0"/>
              <a:t>Функциональная структура (иерархическая)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E47565-918B-4A2B-B7A3-A1AD4B668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" y="735811"/>
            <a:ext cx="12058185" cy="5773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2E3DC0-FD51-1782-6D80-BB8B8C5F5D8A}"/>
              </a:ext>
            </a:extLst>
          </p:cNvPr>
          <p:cNvSpPr txBox="1"/>
          <p:nvPr/>
        </p:nvSpPr>
        <p:spPr>
          <a:xfrm>
            <a:off x="2877026" y="6400071"/>
            <a:ext cx="9716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+mj-lt"/>
                <a:ea typeface="+mj-ea"/>
                <a:cs typeface="+mj-cs"/>
              </a:rPr>
              <a:t>отношения доминирования и подчинения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91C869-E4B5-4361-C872-7A9CCCBBD92B}"/>
              </a:ext>
            </a:extLst>
          </p:cNvPr>
          <p:cNvSpPr txBox="1"/>
          <p:nvPr/>
        </p:nvSpPr>
        <p:spPr>
          <a:xfrm>
            <a:off x="5497552" y="4164980"/>
            <a:ext cx="108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Староста</a:t>
            </a:r>
          </a:p>
          <a:p>
            <a:r>
              <a:rPr lang="ru-RU" dirty="0"/>
              <a:t>группы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65C13E-26DE-897C-3824-7DA3A6E6A73A}"/>
              </a:ext>
            </a:extLst>
          </p:cNvPr>
          <p:cNvSpPr txBox="1"/>
          <p:nvPr/>
        </p:nvSpPr>
        <p:spPr>
          <a:xfrm>
            <a:off x="5566317" y="5631363"/>
            <a:ext cx="1170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Студенты группы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7F9B96-7BB3-6967-CA71-8599D69D8C0D}"/>
              </a:ext>
            </a:extLst>
          </p:cNvPr>
          <p:cNvSpPr txBox="1"/>
          <p:nvPr/>
        </p:nvSpPr>
        <p:spPr>
          <a:xfrm>
            <a:off x="5454805" y="2720898"/>
            <a:ext cx="1282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Зам</a:t>
            </a:r>
            <a:r>
              <a:rPr lang="en-US" dirty="0"/>
              <a:t>. </a:t>
            </a:r>
            <a:r>
              <a:rPr lang="ru-RU" dirty="0"/>
              <a:t>директора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2A132100-D043-ADC1-D473-BEE99B67192C}"/>
              </a:ext>
            </a:extLst>
          </p:cNvPr>
          <p:cNvCxnSpPr/>
          <p:nvPr/>
        </p:nvCxnSpPr>
        <p:spPr>
          <a:xfrm>
            <a:off x="5876693" y="2553629"/>
            <a:ext cx="0" cy="267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CB34ADEE-C68A-EB27-53B9-F9357BB242AC}"/>
              </a:ext>
            </a:extLst>
          </p:cNvPr>
          <p:cNvCxnSpPr>
            <a:cxnSpLocks/>
          </p:cNvCxnSpPr>
          <p:nvPr/>
        </p:nvCxnSpPr>
        <p:spPr>
          <a:xfrm>
            <a:off x="5872976" y="3429000"/>
            <a:ext cx="3717" cy="735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32AA2569-BB33-BDED-C137-E97F3D16ED9D}"/>
              </a:ext>
            </a:extLst>
          </p:cNvPr>
          <p:cNvCxnSpPr>
            <a:cxnSpLocks/>
          </p:cNvCxnSpPr>
          <p:nvPr/>
        </p:nvCxnSpPr>
        <p:spPr>
          <a:xfrm>
            <a:off x="5872976" y="4764500"/>
            <a:ext cx="3717" cy="735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6B22A55-55D3-8170-C30E-88B67D99626E}"/>
              </a:ext>
            </a:extLst>
          </p:cNvPr>
          <p:cNvSpPr txBox="1"/>
          <p:nvPr/>
        </p:nvSpPr>
        <p:spPr>
          <a:xfrm>
            <a:off x="9292" y="792667"/>
            <a:ext cx="39363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ru-RU" dirty="0"/>
              <a:t>Власть – это право отдавать распоряжения</a:t>
            </a:r>
            <a:r>
              <a:rPr lang="en-US" dirty="0"/>
              <a:t> </a:t>
            </a:r>
            <a:r>
              <a:rPr lang="ru-RU" dirty="0"/>
              <a:t>для выполнения </a:t>
            </a:r>
            <a:r>
              <a:rPr lang="en-US" dirty="0"/>
              <a:t>KPI</a:t>
            </a:r>
            <a:endParaRPr lang="ru-RU" dirty="0"/>
          </a:p>
          <a:p>
            <a:pPr marL="342900" indent="-342900">
              <a:buAutoNum type="arabicParenR"/>
            </a:pPr>
            <a:r>
              <a:rPr lang="ru-RU" dirty="0"/>
              <a:t>Ответственность – это обязанность отвечать за результат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40D71-9D46-FEA2-F1C2-638AD0669E2D}"/>
              </a:ext>
            </a:extLst>
          </p:cNvPr>
          <p:cNvSpPr txBox="1"/>
          <p:nvPr/>
        </p:nvSpPr>
        <p:spPr>
          <a:xfrm>
            <a:off x="8341111" y="632550"/>
            <a:ext cx="38415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Связь</a:t>
            </a:r>
            <a:r>
              <a:rPr lang="ru-RU" b="0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ru-RU" dirty="0"/>
              <a:t>с «верхним уровнем» осуществляется через систему отчетности</a:t>
            </a:r>
            <a:r>
              <a:rPr lang="en-US" dirty="0"/>
              <a:t>:</a:t>
            </a:r>
            <a:endParaRPr lang="ru-RU" dirty="0"/>
          </a:p>
          <a:p>
            <a:r>
              <a:rPr lang="en-US" dirty="0"/>
              <a:t>KPI </a:t>
            </a:r>
            <a:r>
              <a:rPr lang="ru-RU" dirty="0"/>
              <a:t>в управлении качеством в здравоохранении-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т</a:t>
            </a:r>
            <a:r>
              <a:rPr lang="ru-RU" dirty="0" err="1"/>
              <a:t>очность</a:t>
            </a:r>
            <a:r>
              <a:rPr lang="ru-RU" dirty="0"/>
              <a:t> заполнения документации</a:t>
            </a:r>
          </a:p>
          <a:p>
            <a:r>
              <a:rPr lang="ru-RU" dirty="0"/>
              <a:t>- соблюдение санитарных норм</a:t>
            </a:r>
            <a:r>
              <a:rPr lang="en-US" dirty="0"/>
              <a:t>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8309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C3996-509B-453E-BB9C-2E6EB522F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1730"/>
            <a:ext cx="12192000" cy="1655762"/>
          </a:xfrm>
        </p:spPr>
        <p:txBody>
          <a:bodyPr>
            <a:normAutofit fontScale="90000"/>
          </a:bodyPr>
          <a:lstStyle/>
          <a:p>
            <a:r>
              <a:rPr lang="ru-RU" dirty="0"/>
              <a:t>Кодекс профессиональной медицинской и корпоративной этики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884810-A707-9ECA-3ED2-755A4A164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202590"/>
            <a:ext cx="12192000" cy="3092222"/>
          </a:xfrm>
        </p:spPr>
        <p:txBody>
          <a:bodyPr/>
          <a:lstStyle/>
          <a:p>
            <a:r>
              <a:rPr lang="ru-RU" dirty="0"/>
              <a:t>На примере ФГБУ </a:t>
            </a:r>
            <a:r>
              <a:rPr lang="en-US" dirty="0"/>
              <a:t>”</a:t>
            </a:r>
            <a:r>
              <a:rPr lang="ru-RU" dirty="0"/>
              <a:t>ЦКБ с поликлиникой</a:t>
            </a:r>
            <a:r>
              <a:rPr lang="en-US" dirty="0"/>
              <a:t>”(</a:t>
            </a:r>
            <a:r>
              <a:rPr lang="en-US" dirty="0" err="1"/>
              <a:t>п</a:t>
            </a:r>
            <a:r>
              <a:rPr lang="ru-RU" dirty="0" err="1"/>
              <a:t>риказ</a:t>
            </a:r>
            <a:r>
              <a:rPr lang="ru-RU" dirty="0"/>
              <a:t> от 18.08.2021 №482</a:t>
            </a:r>
            <a:r>
              <a:rPr lang="en-US" dirty="0"/>
              <a:t>)</a:t>
            </a:r>
            <a:r>
              <a:rPr lang="ru-RU" dirty="0"/>
              <a:t>:</a:t>
            </a:r>
          </a:p>
          <a:p>
            <a:r>
              <a:rPr lang="ru-RU" dirty="0"/>
              <a:t>Порядок деятельности учреждения предполагает наличие </a:t>
            </a:r>
            <a:r>
              <a:rPr lang="ru-RU" b="1" u="sng" dirty="0"/>
              <a:t>организационной структуры</a:t>
            </a:r>
            <a:r>
              <a:rPr lang="ru-RU" dirty="0"/>
              <a:t>, использование </a:t>
            </a:r>
            <a:r>
              <a:rPr lang="ru-RU" b="1" u="sng" dirty="0"/>
              <a:t>принципа подчиненности и ответственности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а также субординации</a:t>
            </a:r>
            <a:r>
              <a:rPr lang="en-US" dirty="0"/>
              <a:t>.</a:t>
            </a:r>
            <a:r>
              <a:rPr lang="ru-RU" dirty="0"/>
              <a:t> Этическая сторона субординации в медицине предусматривает не формальное должностное соподчинение, основанное на чисто дисциплинарных требованиях,</a:t>
            </a:r>
            <a:r>
              <a:rPr lang="en-US" dirty="0"/>
              <a:t> </a:t>
            </a:r>
            <a:r>
              <a:rPr lang="ru-RU" dirty="0"/>
              <a:t>а взаимоотношения,</a:t>
            </a:r>
            <a:r>
              <a:rPr lang="en-US" dirty="0"/>
              <a:t> </a:t>
            </a:r>
            <a:r>
              <a:rPr lang="ru-RU" dirty="0"/>
              <a:t>обусловленные такими морально-этическими подходами старших должностных лиц к младшим и наоборот</a:t>
            </a:r>
            <a:r>
              <a:rPr lang="en-US" dirty="0"/>
              <a:t>, </a:t>
            </a:r>
            <a:r>
              <a:rPr lang="ru-RU" dirty="0"/>
              <a:t>как доброжелательность</a:t>
            </a:r>
            <a:r>
              <a:rPr lang="en-US" dirty="0"/>
              <a:t>, </a:t>
            </a:r>
            <a:r>
              <a:rPr lang="ru-RU" dirty="0"/>
              <a:t>взаимоуважение</a:t>
            </a:r>
            <a:r>
              <a:rPr lang="en-US" dirty="0"/>
              <a:t>,</a:t>
            </a:r>
            <a:r>
              <a:rPr lang="ru-RU" dirty="0"/>
              <a:t> тактичность и чувство товарищеской взаимопомощи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2184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C3996-509B-453E-BB9C-2E6EB522F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832757"/>
          </a:xfrm>
        </p:spPr>
        <p:txBody>
          <a:bodyPr>
            <a:normAutofit/>
          </a:bodyPr>
          <a:lstStyle/>
          <a:p>
            <a:r>
              <a:rPr lang="ru-RU" sz="4400" dirty="0" err="1"/>
              <a:t>D</a:t>
            </a:r>
            <a:r>
              <a:rPr lang="en-US" sz="4400" dirty="0"/>
              <a:t>NS (</a:t>
            </a:r>
            <a:r>
              <a:rPr lang="ru-RU" sz="4400" dirty="0"/>
              <a:t>система доменных имен в сети Интернет</a:t>
            </a:r>
            <a:r>
              <a:rPr lang="en-US" sz="4400" dirty="0"/>
              <a:t>)</a:t>
            </a:r>
            <a:endParaRPr lang="ru-RU" sz="4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016424-3811-5ADA-F2C0-2B56B6E58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9310"/>
            <a:ext cx="9281067" cy="5397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8AF1D0-9768-F6AB-F234-AD55A5DCF779}"/>
              </a:ext>
            </a:extLst>
          </p:cNvPr>
          <p:cNvSpPr txBox="1"/>
          <p:nvPr/>
        </p:nvSpPr>
        <p:spPr>
          <a:xfrm>
            <a:off x="1" y="3753394"/>
            <a:ext cx="1985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Первый уровень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9AA6A0-5E9B-9886-620F-2C87FED8107B}"/>
              </a:ext>
            </a:extLst>
          </p:cNvPr>
          <p:cNvSpPr txBox="1"/>
          <p:nvPr/>
        </p:nvSpPr>
        <p:spPr>
          <a:xfrm>
            <a:off x="1" y="5055325"/>
            <a:ext cx="1985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Второй уровень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E0E70E-5762-D226-7592-1DD7EDA5B263}"/>
              </a:ext>
            </a:extLst>
          </p:cNvPr>
          <p:cNvSpPr txBox="1"/>
          <p:nvPr/>
        </p:nvSpPr>
        <p:spPr>
          <a:xfrm>
            <a:off x="1" y="6323874"/>
            <a:ext cx="291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Субдомены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982E1A-7B7E-D649-38C2-D949439E59BB}"/>
              </a:ext>
            </a:extLst>
          </p:cNvPr>
          <p:cNvSpPr txBox="1"/>
          <p:nvPr/>
        </p:nvSpPr>
        <p:spPr>
          <a:xfrm>
            <a:off x="8125097" y="1306286"/>
            <a:ext cx="3753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Домен – это подразделение в цепочке подчинения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E23AFB-83F2-78B4-F5A7-1963FB62BD72}"/>
              </a:ext>
            </a:extLst>
          </p:cNvPr>
          <p:cNvSpPr txBox="1"/>
          <p:nvPr/>
        </p:nvSpPr>
        <p:spPr>
          <a:xfrm>
            <a:off x="8125097" y="2163091"/>
            <a:ext cx="3753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Доменное имя – это название домена (до 64 символов!)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75489-1692-8730-E71C-9563715E5149}"/>
              </a:ext>
            </a:extLst>
          </p:cNvPr>
          <p:cNvSpPr txBox="1"/>
          <p:nvPr/>
        </p:nvSpPr>
        <p:spPr>
          <a:xfrm>
            <a:off x="121920" y="1952617"/>
            <a:ext cx="35879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Корневой домен. Один для всей сети Инте</a:t>
            </a:r>
            <a:r>
              <a:rPr lang="en-US" dirty="0" err="1"/>
              <a:t>р</a:t>
            </a:r>
            <a:r>
              <a:rPr lang="ru-RU" dirty="0"/>
              <a:t>нет</a:t>
            </a:r>
            <a:r>
              <a:rPr lang="en-US" dirty="0"/>
              <a:t>. </a:t>
            </a:r>
            <a:r>
              <a:rPr lang="en-US" dirty="0" err="1"/>
              <a:t>Н</a:t>
            </a:r>
            <a:r>
              <a:rPr lang="ru-RU" dirty="0"/>
              <a:t>е отображается явно.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4B4B83-5022-656D-D53E-CA37F640ED7E}"/>
              </a:ext>
            </a:extLst>
          </p:cNvPr>
          <p:cNvSpPr txBox="1"/>
          <p:nvPr/>
        </p:nvSpPr>
        <p:spPr>
          <a:xfrm>
            <a:off x="8482151" y="2809422"/>
            <a:ext cx="37795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Имена доменов надо покупать у аккредитованных регистраторов имен</a:t>
            </a:r>
            <a:r>
              <a:rPr lang="en-US" dirty="0"/>
              <a:t>, </a:t>
            </a:r>
            <a:r>
              <a:rPr lang="ru-RU" dirty="0"/>
              <a:t>например</a:t>
            </a:r>
            <a:r>
              <a:rPr lang="en-US" dirty="0"/>
              <a:t>, </a:t>
            </a:r>
            <a:endParaRPr lang="ru-RU" dirty="0"/>
          </a:p>
          <a:p>
            <a:r>
              <a:rPr lang="ru-RU" b="0" i="0" dirty="0">
                <a:effectLst/>
                <a:latin typeface="SourceSansPro"/>
              </a:rPr>
              <a:t>- 1 уровень стоит 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~185 000 </a:t>
            </a:r>
            <a:r>
              <a:rPr lang="en-US" b="1" i="0" dirty="0">
                <a:solidFill>
                  <a:srgbClr val="1D1D1F"/>
                </a:solidFill>
                <a:effectLst/>
                <a:latin typeface="system-ui"/>
              </a:rPr>
              <a:t>$</a:t>
            </a:r>
          </a:p>
          <a:p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 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(только за подачу заявки!) у </a:t>
            </a:r>
            <a:r>
              <a:rPr lang="en" b="0" i="0" dirty="0">
                <a:solidFill>
                  <a:srgbClr val="1D1D1F"/>
                </a:solidFill>
                <a:effectLst/>
                <a:latin typeface="system-ui"/>
              </a:rPr>
              <a:t>ICANN</a:t>
            </a:r>
            <a:endParaRPr lang="ru-RU" dirty="0"/>
          </a:p>
          <a:p>
            <a:r>
              <a:rPr lang="ru-RU" b="0" i="0" dirty="0">
                <a:effectLst/>
                <a:latin typeface="SourceSansPro"/>
              </a:rPr>
              <a:t>- со 2 уровня у АНО «Координационный центр доменов .</a:t>
            </a:r>
            <a:r>
              <a:rPr lang="en" b="0" i="0" dirty="0">
                <a:effectLst/>
                <a:latin typeface="SourceSansPro"/>
              </a:rPr>
              <a:t>RU/.</a:t>
            </a:r>
            <a:r>
              <a:rPr lang="ru-RU" b="0" i="0" dirty="0">
                <a:effectLst/>
                <a:latin typeface="SourceSansPro"/>
              </a:rPr>
              <a:t>РФ»</a:t>
            </a:r>
            <a:r>
              <a:rPr lang="en-US" b="0" i="0" dirty="0">
                <a:effectLst/>
                <a:latin typeface="SourceSansPro"/>
              </a:rPr>
              <a:t> - </a:t>
            </a:r>
            <a:r>
              <a:rPr lang="en-US" b="0" i="0" dirty="0">
                <a:effectLst/>
                <a:latin typeface="SourceSansPro"/>
                <a:hlinkClick r:id="rId3"/>
              </a:rPr>
              <a:t>https://cctld.ru/about/</a:t>
            </a:r>
            <a:r>
              <a:rPr lang="ru-RU" b="0" i="0" dirty="0">
                <a:effectLst/>
                <a:latin typeface="SourceSansPro"/>
              </a:rPr>
              <a:t> - содержит продавцов по </a:t>
            </a:r>
            <a:r>
              <a:rPr lang="en-US" b="0" i="0" dirty="0" err="1">
                <a:effectLst/>
                <a:latin typeface="SourceSansPro"/>
              </a:rPr>
              <a:t>з</a:t>
            </a:r>
            <a:r>
              <a:rPr lang="ru-RU" b="0" i="0" dirty="0" err="1">
                <a:effectLst/>
                <a:latin typeface="SourceSansPro"/>
              </a:rPr>
              <a:t>оне</a:t>
            </a:r>
            <a:r>
              <a:rPr lang="ru-RU" b="0" i="0" dirty="0">
                <a:effectLst/>
                <a:latin typeface="SourceSansPro"/>
              </a:rPr>
              <a:t> </a:t>
            </a:r>
            <a:r>
              <a:rPr lang="en-US" b="0" i="0" dirty="0">
                <a:effectLst/>
                <a:latin typeface="SourceSansPro"/>
              </a:rPr>
              <a:t>RU</a:t>
            </a:r>
            <a:endParaRPr lang="en-US" dirty="0"/>
          </a:p>
          <a:p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6057E4-9F18-40A3-C721-F6256F086E49}"/>
              </a:ext>
            </a:extLst>
          </p:cNvPr>
          <p:cNvSpPr txBox="1"/>
          <p:nvPr/>
        </p:nvSpPr>
        <p:spPr>
          <a:xfrm>
            <a:off x="8934994" y="5671744"/>
            <a:ext cx="3030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Длина цепочки имен доменов (включая точки) </a:t>
            </a:r>
            <a:r>
              <a:rPr lang="en-US" dirty="0"/>
              <a:t>&lt; 25</a:t>
            </a:r>
            <a:r>
              <a:rPr lang="ru-RU" dirty="0"/>
              <a:t>5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ru-RU" dirty="0" err="1"/>
              <a:t>имволов</a:t>
            </a:r>
            <a:r>
              <a:rPr lang="ru-RU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80296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C3996-509B-453E-BB9C-2E6EB522F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060677"/>
          </a:xfrm>
        </p:spPr>
        <p:txBody>
          <a:bodyPr/>
          <a:lstStyle/>
          <a:p>
            <a:r>
              <a:rPr lang="ru-RU" dirty="0"/>
              <a:t>Зачем нужна </a:t>
            </a:r>
            <a:r>
              <a:rPr lang="en-US" dirty="0"/>
              <a:t>DNS</a:t>
            </a:r>
            <a:r>
              <a:rPr lang="ru-RU" dirty="0"/>
              <a:t> в сети Интернет?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884810-A707-9ECA-3ED2-755A4A164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1099" y="1201738"/>
            <a:ext cx="9579429" cy="365806"/>
          </a:xfrm>
        </p:spPr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rgbClr val="FF0000"/>
                </a:solidFill>
              </a:rPr>
              <a:t>Чтобы у сайта в качестве имени было запоминающееся человеком название:</a:t>
            </a:r>
          </a:p>
          <a:p>
            <a:endParaRPr lang="ru-RU" dirty="0">
              <a:solidFill>
                <a:srgbClr val="FF0000"/>
              </a:solidFill>
            </a:endParaRPr>
          </a:p>
          <a:p>
            <a:endParaRPr lang="ru-RU" dirty="0">
              <a:solidFill>
                <a:srgbClr val="FF0000"/>
              </a:solidFill>
            </a:endParaRPr>
          </a:p>
          <a:p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438ADD-0F30-AC60-51FA-5FD2647FF838}"/>
              </a:ext>
            </a:extLst>
          </p:cNvPr>
          <p:cNvSpPr txBox="1"/>
          <p:nvPr/>
        </p:nvSpPr>
        <p:spPr>
          <a:xfrm>
            <a:off x="326571" y="1924361"/>
            <a:ext cx="114626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Официальный сайт Министерства здравоохранения Российской Федерации — это:</a:t>
            </a:r>
          </a:p>
          <a:p>
            <a:endParaRPr lang="ru-RU" sz="2400" dirty="0"/>
          </a:p>
          <a:p>
            <a:r>
              <a:rPr lang="ru-RU" sz="2400" dirty="0"/>
              <a:t>🌐 </a:t>
            </a:r>
            <a:r>
              <a:rPr lang="ru-RU" sz="2400" dirty="0" err="1"/>
              <a:t>https</a:t>
            </a:r>
            <a:r>
              <a:rPr lang="ru-RU" sz="2400" dirty="0"/>
              <a:t>://</a:t>
            </a:r>
            <a:r>
              <a:rPr lang="ru-RU" sz="2400" dirty="0" err="1"/>
              <a:t>minzdrav.gov.ru</a:t>
            </a:r>
            <a:endParaRPr lang="ru-RU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D75E10-FC79-9F25-349A-7C22152C20BD}"/>
              </a:ext>
            </a:extLst>
          </p:cNvPr>
          <p:cNvSpPr txBox="1"/>
          <p:nvPr/>
        </p:nvSpPr>
        <p:spPr>
          <a:xfrm>
            <a:off x="326571" y="3214900"/>
            <a:ext cx="1146265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1D1D1F"/>
                </a:solidFill>
                <a:effectLst/>
                <a:latin typeface="system-ui"/>
              </a:rPr>
              <a:t>Домен верхнего уровня</a:t>
            </a:r>
            <a:r>
              <a:rPr lang="ru-RU" sz="2400" b="0" i="0" dirty="0">
                <a:solidFill>
                  <a:srgbClr val="1D1D1F"/>
                </a:solidFill>
                <a:effectLst/>
                <a:latin typeface="system-ui"/>
              </a:rPr>
              <a:t>: .</a:t>
            </a:r>
            <a:r>
              <a:rPr lang="en" sz="2400" b="0" i="0" dirty="0" err="1">
                <a:solidFill>
                  <a:srgbClr val="1D1D1F"/>
                </a:solidFill>
                <a:effectLst/>
                <a:latin typeface="system-ui"/>
              </a:rPr>
              <a:t>ru</a:t>
            </a:r>
            <a:r>
              <a:rPr lang="en" sz="2400" b="0" i="0" dirty="0">
                <a:solidFill>
                  <a:srgbClr val="1D1D1F"/>
                </a:solidFill>
                <a:effectLst/>
                <a:latin typeface="system-ui"/>
              </a:rPr>
              <a:t> — </a:t>
            </a:r>
            <a:r>
              <a:rPr lang="ru-RU" sz="2400" b="0" i="0" dirty="0">
                <a:solidFill>
                  <a:srgbClr val="1D1D1F"/>
                </a:solidFill>
                <a:effectLst/>
                <a:latin typeface="system-ui"/>
              </a:rPr>
              <a:t>национальная зона России.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1D1D1F"/>
                </a:solidFill>
                <a:effectLst/>
                <a:latin typeface="system-ui"/>
              </a:rPr>
              <a:t>Домен второго уровня</a:t>
            </a:r>
            <a:r>
              <a:rPr lang="ru-RU" sz="2400" b="0" i="0" dirty="0">
                <a:solidFill>
                  <a:srgbClr val="1D1D1F"/>
                </a:solidFill>
                <a:effectLst/>
                <a:latin typeface="system-ui"/>
              </a:rPr>
              <a:t>:</a:t>
            </a:r>
            <a:r>
              <a:rPr lang="ru-RU" sz="2400" dirty="0">
                <a:solidFill>
                  <a:srgbClr val="1D1D1F"/>
                </a:solidFill>
                <a:latin typeface="system-ui"/>
              </a:rPr>
              <a:t> </a:t>
            </a:r>
            <a:r>
              <a:rPr lang="en" sz="2400" b="0" i="0" dirty="0" err="1">
                <a:solidFill>
                  <a:srgbClr val="1D1D1F"/>
                </a:solidFill>
                <a:effectLst/>
                <a:latin typeface="system-ui"/>
              </a:rPr>
              <a:t>gov.ru</a:t>
            </a:r>
            <a:endParaRPr lang="en" sz="2400" b="0" i="0" dirty="0">
              <a:solidFill>
                <a:srgbClr val="1D1D1F"/>
              </a:solidFill>
              <a:effectLst/>
              <a:latin typeface="system-ui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sz="2400" b="0" i="0" dirty="0" err="1">
                <a:solidFill>
                  <a:srgbClr val="1D1D1F"/>
                </a:solidFill>
                <a:effectLst/>
                <a:latin typeface="system-ui"/>
              </a:rPr>
              <a:t>gov.ru</a:t>
            </a:r>
            <a:r>
              <a:rPr lang="en" sz="2400" b="0" i="0" dirty="0">
                <a:solidFill>
                  <a:srgbClr val="1D1D1F"/>
                </a:solidFill>
                <a:effectLst/>
                <a:latin typeface="system-ui"/>
              </a:rPr>
              <a:t> — </a:t>
            </a:r>
            <a:r>
              <a:rPr lang="ru-RU" sz="2400" b="1" i="0" dirty="0">
                <a:solidFill>
                  <a:srgbClr val="1D1D1F"/>
                </a:solidFill>
                <a:effectLst/>
                <a:latin typeface="system-ui"/>
              </a:rPr>
              <a:t>специальная зона для государственных органов РФ</a:t>
            </a:r>
            <a:r>
              <a:rPr lang="ru-RU" sz="2400" b="0" i="0" dirty="0">
                <a:solidFill>
                  <a:srgbClr val="1D1D1F"/>
                </a:solidFill>
                <a:effectLst/>
                <a:latin typeface="system-ui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D1D1F"/>
                </a:solidFill>
                <a:effectLst/>
                <a:latin typeface="system-ui"/>
              </a:rPr>
              <a:t>Только официальные госучреждения могут регистрировать имена в зоне </a:t>
            </a:r>
            <a:r>
              <a:rPr lang="en" sz="2400" b="0" i="0" dirty="0" err="1">
                <a:solidFill>
                  <a:srgbClr val="1D1D1F"/>
                </a:solidFill>
                <a:effectLst/>
                <a:latin typeface="system-ui"/>
              </a:rPr>
              <a:t>gov.ru</a:t>
            </a:r>
            <a:r>
              <a:rPr lang="en" sz="2400" b="0" i="0" dirty="0">
                <a:solidFill>
                  <a:srgbClr val="1D1D1F"/>
                </a:solidFill>
                <a:effectLst/>
                <a:latin typeface="system-ui"/>
              </a:rPr>
              <a:t>, </a:t>
            </a:r>
            <a:r>
              <a:rPr lang="ru-RU" sz="2400" b="0" i="0" dirty="0">
                <a:solidFill>
                  <a:srgbClr val="1D1D1F"/>
                </a:solidFill>
                <a:effectLst/>
                <a:latin typeface="system-ui"/>
              </a:rPr>
              <a:t>что </a:t>
            </a:r>
            <a:r>
              <a:rPr lang="ru-RU" sz="2400" b="1" i="0" dirty="0">
                <a:solidFill>
                  <a:srgbClr val="1D1D1F"/>
                </a:solidFill>
                <a:effectLst/>
                <a:latin typeface="system-ui"/>
              </a:rPr>
              <a:t>гарантирует подлинность</a:t>
            </a:r>
            <a:r>
              <a:rPr lang="ru-RU" sz="2400" b="0" i="0" dirty="0">
                <a:solidFill>
                  <a:srgbClr val="1D1D1F"/>
                </a:solidFill>
                <a:effectLst/>
                <a:latin typeface="system-ui"/>
              </a:rPr>
              <a:t> сайта.</a:t>
            </a:r>
          </a:p>
          <a:p>
            <a:r>
              <a:rPr lang="ru-RU" sz="2400" dirty="0">
                <a:effectLst/>
              </a:rPr>
              <a:t>✅ Это как «государственная печать»: сайт с доменом </a:t>
            </a:r>
            <a:r>
              <a:rPr lang="en" sz="2400" dirty="0" err="1">
                <a:effectLst/>
              </a:rPr>
              <a:t>gov.ru</a:t>
            </a:r>
            <a:r>
              <a:rPr lang="en" sz="2400" dirty="0">
                <a:effectLst/>
              </a:rPr>
              <a:t> </a:t>
            </a:r>
            <a:r>
              <a:rPr lang="ru-RU" sz="2400" b="1" dirty="0">
                <a:effectLst/>
              </a:rPr>
              <a:t>не может быть подделан частным лицом</a:t>
            </a:r>
            <a:r>
              <a:rPr lang="ru-RU" sz="2400" dirty="0">
                <a:effectLst/>
              </a:rPr>
              <a:t> — его могут создать только уполномоченные органы.</a:t>
            </a:r>
          </a:p>
        </p:txBody>
      </p:sp>
    </p:spTree>
    <p:extLst>
      <p:ext uri="{BB962C8B-B14F-4D97-AF65-F5344CB8AC3E}">
        <p14:creationId xmlns:p14="http://schemas.microsoft.com/office/powerpoint/2010/main" val="1137808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C3996-509B-453E-BB9C-2E6EB522F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9329"/>
          </a:xfrm>
        </p:spPr>
        <p:txBody>
          <a:bodyPr/>
          <a:lstStyle/>
          <a:p>
            <a:r>
              <a:rPr lang="ru-RU" dirty="0"/>
              <a:t>В свидетельстве о рождении сайта…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884810-A707-9ECA-3ED2-755A4A164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314" y="1404257"/>
            <a:ext cx="9459686" cy="4947557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Сайт – это набор файлов, соединенных через ссылки друг на друга, и размещенных на компьютере, подключенном к сети Интернет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Доменное имя для сайта куплено </a:t>
            </a:r>
            <a:endParaRPr lang="en-US" dirty="0"/>
          </a:p>
          <a:p>
            <a:pPr algn="l"/>
            <a:r>
              <a:rPr lang="ru-RU" dirty="0"/>
              <a:t>(например</a:t>
            </a:r>
            <a:r>
              <a:rPr lang="en-US" dirty="0"/>
              <a:t>, </a:t>
            </a:r>
            <a:r>
              <a:rPr lang="en-US" dirty="0" err="1"/>
              <a:t>vasya-lozhkin.ru</a:t>
            </a:r>
            <a:r>
              <a:rPr lang="en-US" dirty="0"/>
              <a:t>, </a:t>
            </a:r>
            <a:r>
              <a:rPr lang="en" dirty="0"/>
              <a:t>paid-till:2026.12.18 (</a:t>
            </a:r>
            <a:r>
              <a:rPr lang="en" dirty="0" err="1"/>
              <a:t>whois</a:t>
            </a:r>
            <a:r>
              <a:rPr lang="en" dirty="0"/>
              <a:t>)</a:t>
            </a:r>
            <a:r>
              <a:rPr lang="ru-RU" dirty="0"/>
              <a:t>)</a:t>
            </a:r>
          </a:p>
          <a:p>
            <a:r>
              <a:rPr lang="ru-RU" b="1" dirty="0">
                <a:solidFill>
                  <a:srgbClr val="FF0000"/>
                </a:solidFill>
              </a:rPr>
              <a:t>Свидетельство о рождении не выдается без…</a:t>
            </a:r>
            <a:r>
              <a:rPr lang="en-US" b="1" dirty="0">
                <a:solidFill>
                  <a:srgbClr val="FF0000"/>
                </a:solidFill>
              </a:rPr>
              <a:t>..?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727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AA28ED-547A-FEFB-E025-CC6797E53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395" y="0"/>
            <a:ext cx="959126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25BE0C-40AD-86EC-1F38-482F8648B207}"/>
              </a:ext>
            </a:extLst>
          </p:cNvPr>
          <p:cNvSpPr txBox="1"/>
          <p:nvPr/>
        </p:nvSpPr>
        <p:spPr>
          <a:xfrm>
            <a:off x="1744291" y="2026921"/>
            <a:ext cx="1619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(броузер)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F07347D-2DF6-130B-0FD2-A463FBCB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177" y="4336498"/>
            <a:ext cx="3839949" cy="204797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198DC53-442A-5E79-1209-2C81B2B66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060" y="0"/>
            <a:ext cx="1638589" cy="16385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857F9B-A89F-62F7-89D3-C1CCD37010B6}"/>
              </a:ext>
            </a:extLst>
          </p:cNvPr>
          <p:cNvSpPr txBox="1"/>
          <p:nvPr/>
        </p:nvSpPr>
        <p:spPr>
          <a:xfrm>
            <a:off x="300446" y="1657589"/>
            <a:ext cx="1619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(броузер)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7062EE-9C59-13ED-A2B1-0641C00D133A}"/>
              </a:ext>
            </a:extLst>
          </p:cNvPr>
          <p:cNvSpPr txBox="1"/>
          <p:nvPr/>
        </p:nvSpPr>
        <p:spPr>
          <a:xfrm>
            <a:off x="1619105" y="6488668"/>
            <a:ext cx="1997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(Веб-сервер)</a:t>
            </a:r>
          </a:p>
        </p:txBody>
      </p:sp>
    </p:spTree>
    <p:extLst>
      <p:ext uri="{BB962C8B-B14F-4D97-AF65-F5344CB8AC3E}">
        <p14:creationId xmlns:p14="http://schemas.microsoft.com/office/powerpoint/2010/main" val="3194719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24E1C-26D8-6596-B184-0FB0AA11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24644"/>
          </a:xfrm>
        </p:spPr>
        <p:txBody>
          <a:bodyPr/>
          <a:lstStyle/>
          <a:p>
            <a:pPr algn="ctr"/>
            <a:r>
              <a:rPr lang="ru-RU" dirty="0"/>
              <a:t>Уязвимости </a:t>
            </a:r>
            <a:r>
              <a:rPr lang="ru-RU" dirty="0" err="1"/>
              <a:t>D</a:t>
            </a:r>
            <a:r>
              <a:rPr lang="en-US" dirty="0"/>
              <a:t>NS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8590EF-B094-8DAE-50B2-291202FC2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0779"/>
            <a:ext cx="12192000" cy="5827222"/>
          </a:xfrm>
        </p:spPr>
        <p:txBody>
          <a:bodyPr>
            <a:normAutofit fontScale="92500" lnSpcReduction="20000"/>
          </a:bodyPr>
          <a:lstStyle/>
          <a:p>
            <a:pPr algn="l">
              <a:buFont typeface="+mj-lt"/>
              <a:buAutoNum type="arabicPeriod"/>
            </a:pPr>
            <a:r>
              <a:rPr lang="ru-RU" b="1" i="0" dirty="0">
                <a:effectLst/>
              </a:rPr>
              <a:t>Поддельные сайты (фишинг)</a:t>
            </a:r>
            <a:br>
              <a:rPr lang="ru-RU" b="0" i="0" dirty="0">
                <a:effectLst/>
              </a:rPr>
            </a:br>
            <a:r>
              <a:rPr lang="ru-RU" b="0" i="0" dirty="0">
                <a:effectLst/>
              </a:rPr>
              <a:t>Злоумышленники могут подменить </a:t>
            </a:r>
            <a:r>
              <a:rPr lang="en" b="0" i="0" dirty="0">
                <a:effectLst/>
              </a:rPr>
              <a:t>DNS-</a:t>
            </a:r>
            <a:r>
              <a:rPr lang="ru-RU" b="0" i="0" dirty="0">
                <a:effectLst/>
              </a:rPr>
              <a:t>записи или отравить кэш </a:t>
            </a:r>
            <a:r>
              <a:rPr lang="en" b="0" i="0" dirty="0">
                <a:effectLst/>
              </a:rPr>
              <a:t>DNS, </a:t>
            </a:r>
            <a:r>
              <a:rPr lang="ru-RU" b="0" i="0" dirty="0">
                <a:effectLst/>
              </a:rPr>
              <a:t>чтобы перенаправить вас с настоящего сайта (например, </a:t>
            </a:r>
            <a:r>
              <a:rPr lang="en" b="0" i="0" dirty="0" err="1">
                <a:effectLst/>
              </a:rPr>
              <a:t>gosuslugi.ru</a:t>
            </a:r>
            <a:r>
              <a:rPr lang="en" b="0" i="0" dirty="0">
                <a:effectLst/>
              </a:rPr>
              <a:t>) </a:t>
            </a:r>
            <a:r>
              <a:rPr lang="ru-RU" b="0" i="0" dirty="0">
                <a:effectLst/>
              </a:rPr>
              <a:t>на </a:t>
            </a:r>
            <a:r>
              <a:rPr lang="ru-RU" b="1" i="0" dirty="0">
                <a:effectLst/>
              </a:rPr>
              <a:t>поддельный</a:t>
            </a:r>
            <a:r>
              <a:rPr lang="ru-RU" b="0" i="0" dirty="0">
                <a:effectLst/>
              </a:rPr>
              <a:t>, который выглядит точно так же. Вы можете ввести логин, пароль или даже данные банковской карты — и они попадут к мошенникам.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effectLst/>
              </a:rPr>
              <a:t>Перехват трафика</a:t>
            </a:r>
            <a:br>
              <a:rPr lang="ru-RU" b="0" i="0" dirty="0">
                <a:effectLst/>
              </a:rPr>
            </a:br>
            <a:r>
              <a:rPr lang="ru-RU" b="0" i="0" dirty="0">
                <a:effectLst/>
              </a:rPr>
              <a:t>Если </a:t>
            </a:r>
            <a:r>
              <a:rPr lang="en" b="0" i="0" dirty="0">
                <a:effectLst/>
              </a:rPr>
              <a:t>DNS-</a:t>
            </a:r>
            <a:r>
              <a:rPr lang="ru-RU" b="0" i="0" dirty="0">
                <a:effectLst/>
              </a:rPr>
              <a:t>сервер, который вы используете, ненадёжный или взломан, злоумышленник может перехватывать ваши запросы и перенаправлять вас на свои серверы — например, чтобы заразить ваш компьютер вредоносной программой.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effectLst/>
              </a:rPr>
              <a:t>Утечка информации</a:t>
            </a:r>
            <a:br>
              <a:rPr lang="ru-RU" b="0" i="0" dirty="0">
                <a:effectLst/>
              </a:rPr>
            </a:br>
            <a:r>
              <a:rPr lang="ru-RU" b="0" i="0" dirty="0">
                <a:effectLst/>
              </a:rPr>
              <a:t>Каждый раз, когда вы заходите на сайт, ваш компьютер отправляет запрос </a:t>
            </a:r>
            <a:r>
              <a:rPr lang="en" b="0" i="0" dirty="0">
                <a:effectLst/>
              </a:rPr>
              <a:t>DNS-</a:t>
            </a:r>
            <a:r>
              <a:rPr lang="ru-RU" b="0" i="0" dirty="0">
                <a:effectLst/>
              </a:rPr>
              <a:t>серверу. Если этот сервер контролируется злоумышленником, он узнает, какие сайты вы посещаете</a:t>
            </a:r>
            <a:r>
              <a:rPr lang="en" b="0" i="0" dirty="0">
                <a:effectLst/>
              </a:rPr>
              <a:t>.</a:t>
            </a:r>
          </a:p>
          <a:p>
            <a:pPr marL="0" indent="0" algn="l">
              <a:buNone/>
            </a:pPr>
            <a:r>
              <a:rPr lang="ru-RU" dirty="0">
                <a:solidFill>
                  <a:srgbClr val="FF0000"/>
                </a:solidFill>
              </a:rPr>
              <a:t>Важно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ru-RU" dirty="0">
              <a:solidFill>
                <a:srgbClr val="FF0000"/>
              </a:solidFill>
            </a:endParaRPr>
          </a:p>
          <a:p>
            <a:pPr marL="0" indent="0" algn="l">
              <a:buNone/>
            </a:pPr>
            <a:r>
              <a:rPr lang="ru-RU" dirty="0">
                <a:solidFill>
                  <a:srgbClr val="FF0000"/>
                </a:solidFill>
              </a:rPr>
              <a:t>- Используйте антивирусное программное обеспечение для защиты своих данных!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FF0000"/>
                </a:solidFill>
                <a:effectLst/>
              </a:rPr>
              <a:t>- Используйте надежные доменные имена (</a:t>
            </a:r>
            <a:r>
              <a:rPr lang="en" b="0" i="0" dirty="0" err="1">
                <a:solidFill>
                  <a:srgbClr val="FF0000"/>
                </a:solidFill>
                <a:effectLst/>
              </a:rPr>
              <a:t>minzdrav.gov.ru</a:t>
            </a:r>
            <a:r>
              <a:rPr lang="en-US" b="0" i="0" dirty="0">
                <a:solidFill>
                  <a:srgbClr val="FF0000"/>
                </a:solidFill>
                <a:effectLst/>
              </a:rPr>
              <a:t>, </a:t>
            </a:r>
            <a:r>
              <a:rPr lang="en-US" b="0" i="0" dirty="0" err="1">
                <a:solidFill>
                  <a:srgbClr val="FF0000"/>
                </a:solidFill>
                <a:effectLst/>
              </a:rPr>
              <a:t>gosuslugi.ru</a:t>
            </a:r>
            <a:r>
              <a:rPr lang="en-US" b="0" i="0" dirty="0">
                <a:solidFill>
                  <a:srgbClr val="FF0000"/>
                </a:solidFill>
                <a:effectLst/>
              </a:rPr>
              <a:t> </a:t>
            </a:r>
            <a:r>
              <a:rPr lang="ru-RU" b="0" i="0" dirty="0">
                <a:solidFill>
                  <a:srgbClr val="FF0000"/>
                </a:solidFill>
                <a:effectLst/>
              </a:rPr>
              <a:t>и </a:t>
            </a:r>
            <a:r>
              <a:rPr lang="ru-RU" b="0" i="0" dirty="0" err="1">
                <a:solidFill>
                  <a:srgbClr val="FF0000"/>
                </a:solidFill>
                <a:effectLst/>
              </a:rPr>
              <a:t>др</a:t>
            </a:r>
            <a:r>
              <a:rPr lang="en-US" b="0" i="0" dirty="0">
                <a:solidFill>
                  <a:srgbClr val="FF0000"/>
                </a:solidFill>
                <a:effectLst/>
              </a:rPr>
              <a:t>.</a:t>
            </a:r>
            <a:r>
              <a:rPr lang="ru-RU" b="0" i="0" dirty="0">
                <a:solidFill>
                  <a:srgbClr val="FF0000"/>
                </a:solidFill>
                <a:effectLst/>
              </a:rPr>
              <a:t>)</a:t>
            </a:r>
            <a:endParaRPr lang="en" b="0" i="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58115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08100-2AA5-1BCE-9AF0-784EB5DAA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4052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Http</a:t>
            </a:r>
            <a:r>
              <a:rPr lang="ru-RU" dirty="0"/>
              <a:t>,</a:t>
            </a:r>
            <a:r>
              <a:rPr lang="en-US" dirty="0"/>
              <a:t> https</a:t>
            </a:r>
            <a:r>
              <a:rPr lang="ru-RU" dirty="0"/>
              <a:t>,</a:t>
            </a:r>
            <a:r>
              <a:rPr lang="en-US" dirty="0"/>
              <a:t> ftp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7E25FB-5B3B-6090-15F8-69B1D7ACA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7314"/>
            <a:ext cx="12192000" cy="6030685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Вообще,</a:t>
            </a:r>
            <a:r>
              <a:rPr lang="en-US" dirty="0"/>
              <a:t> </a:t>
            </a:r>
            <a:r>
              <a:rPr lang="ru-RU" dirty="0"/>
              <a:t>согласно ГОСТ 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Р 7.0.5-2008</a:t>
            </a:r>
            <a:r>
              <a:rPr lang="ru-RU" dirty="0"/>
              <a:t> полный адрес сайта в сети Интернет имеет вид:</a:t>
            </a:r>
          </a:p>
          <a:p>
            <a:pPr marL="0" indent="0" algn="l">
              <a:buNone/>
            </a:pPr>
            <a:endParaRPr lang="ru-RU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&lt;схема&gt;://&lt;хост&gt;/&lt;</a:t>
            </a:r>
            <a:r>
              <a:rPr lang="e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URL‐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путь&gt;,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ru-RU" dirty="0">
                <a:solidFill>
                  <a:srgbClr val="202122"/>
                </a:solidFill>
                <a:latin typeface="Arial" panose="020B0604020202020204" pitchFamily="34" charset="0"/>
              </a:rPr>
              <a:t>где с</a:t>
            </a:r>
            <a:r>
              <a:rPr lang="ru-RU" dirty="0"/>
              <a:t>хема – это сетевой протокол</a:t>
            </a:r>
            <a:r>
              <a:rPr lang="en-US" dirty="0"/>
              <a:t>:</a:t>
            </a:r>
            <a:endParaRPr lang="ru-RU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2" tooltip="HTTP"/>
              </a:rPr>
              <a:t>HTTP</a:t>
            </a:r>
            <a:r>
              <a:rPr lang="e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(Hyper Text Transfer Protocol) — 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это протокол передачи гипертекста. Протокол </a:t>
            </a:r>
            <a:r>
              <a:rPr lang="e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используется при пересылке </a:t>
            </a:r>
            <a:r>
              <a:rPr lang="e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Web-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страниц между компьютерами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протокол общения броузера и веб-сервера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  <a:endParaRPr lang="ru-RU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1" dirty="0">
                <a:solidFill>
                  <a:srgbClr val="FF0000"/>
                </a:solidFill>
                <a:effectLst/>
                <a:latin typeface="system-ui"/>
              </a:rPr>
              <a:t>Все данные (логин, пароль, сообщения, файлы) передаются в открытом виде.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1" dirty="0">
                <a:solidFill>
                  <a:srgbClr val="FF0000"/>
                </a:solidFill>
                <a:effectLst/>
                <a:latin typeface="system-ui"/>
              </a:rPr>
              <a:t>Злоумышленник в той же сети (например, в общественном </a:t>
            </a:r>
            <a:r>
              <a:rPr lang="en" b="1" i="1" dirty="0">
                <a:solidFill>
                  <a:srgbClr val="FF0000"/>
                </a:solidFill>
                <a:effectLst/>
                <a:latin typeface="system-ui"/>
              </a:rPr>
              <a:t>Wi-Fi) </a:t>
            </a:r>
            <a:r>
              <a:rPr lang="ru-RU" b="1" i="1" dirty="0">
                <a:solidFill>
                  <a:srgbClr val="FF0000"/>
                </a:solidFill>
                <a:effectLst/>
                <a:latin typeface="system-ui"/>
              </a:rPr>
              <a:t>может перехватить ваш трафик.</a:t>
            </a:r>
          </a:p>
          <a:p>
            <a:pPr marL="0" indent="0" algn="l">
              <a:buNone/>
            </a:pPr>
            <a:endParaRPr lang="ru-RU" b="1" i="1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" dirty="0">
                <a:solidFill>
                  <a:srgbClr val="0645AD"/>
                </a:solidFill>
                <a:latin typeface="Arial" panose="020B0604020202020204" pitchFamily="34" charset="0"/>
              </a:rPr>
              <a:t>HTTPS</a:t>
            </a:r>
            <a:r>
              <a:rPr lang="en" dirty="0"/>
              <a:t> (</a:t>
            </a:r>
            <a:r>
              <a:rPr lang="en" dirty="0" err="1"/>
              <a:t>HyperText</a:t>
            </a:r>
            <a:r>
              <a:rPr lang="en" dirty="0"/>
              <a:t> Transfer Protocol Secure) — </a:t>
            </a:r>
            <a:r>
              <a:rPr lang="ru-RU" dirty="0">
                <a:solidFill>
                  <a:srgbClr val="202122"/>
                </a:solidFill>
                <a:latin typeface="Arial" panose="020B0604020202020204" pitchFamily="34" charset="0"/>
              </a:rPr>
              <a:t>это защищенная версия </a:t>
            </a:r>
            <a:r>
              <a:rPr lang="en" dirty="0">
                <a:solidFill>
                  <a:srgbClr val="202122"/>
                </a:solidFill>
                <a:latin typeface="Arial" panose="020B0604020202020204" pitchFamily="34" charset="0"/>
              </a:rPr>
              <a:t>HTTP, </a:t>
            </a:r>
            <a:r>
              <a:rPr lang="ru-RU" dirty="0">
                <a:solidFill>
                  <a:srgbClr val="202122"/>
                </a:solidFill>
                <a:latin typeface="Arial" panose="020B0604020202020204" pitchFamily="34" charset="0"/>
              </a:rPr>
              <a:t>что стало обязательным стандартом в современном интернете, подтверждаемым "зеленым замочком" в адресной строке браузера</a:t>
            </a: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3" tooltip="FTP"/>
              </a:rPr>
              <a:t>FTP</a:t>
            </a:r>
            <a:r>
              <a:rPr lang="e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(File Transfer Protocol) — 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это протокол передачи файлов со специального файлового сервера на компьютер пользователя</a:t>
            </a:r>
          </a:p>
          <a:p>
            <a:pPr marL="0" indent="0" algn="l">
              <a:buNone/>
            </a:pPr>
            <a:r>
              <a:rPr lang="ru-RU" b="1" i="1" u="sng" dirty="0">
                <a:solidFill>
                  <a:srgbClr val="FF0000"/>
                </a:solidFill>
                <a:effectLst/>
                <a:latin typeface="system-ui"/>
              </a:rPr>
              <a:t>Самый серьёзный риск не в отсутствии схемы, а в том, правильный ли домен вы используете!</a:t>
            </a:r>
            <a:endParaRPr lang="en-US" b="1" i="1" u="sng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ru-RU" b="1" i="0" dirty="0">
                <a:effectLst/>
                <a:latin typeface="Google Sans"/>
              </a:rPr>
              <a:t>Пример:</a:t>
            </a:r>
            <a:r>
              <a:rPr lang="ru-RU" b="0" i="0" dirty="0">
                <a:effectLst/>
                <a:latin typeface="Google Sans"/>
              </a:rPr>
              <a:t> </a:t>
            </a:r>
            <a:r>
              <a:rPr lang="en" b="0" i="0" dirty="0">
                <a:effectLst/>
                <a:latin typeface="Google Sans"/>
              </a:rPr>
              <a:t>https://</a:t>
            </a:r>
            <a:r>
              <a:rPr lang="en" b="0" i="0" dirty="0" err="1">
                <a:effectLst/>
                <a:latin typeface="Google Sans"/>
              </a:rPr>
              <a:t>www.mkramn.ru</a:t>
            </a:r>
            <a:endParaRPr lang="ru-RU" b="0" i="0" dirty="0">
              <a:effectLst/>
              <a:latin typeface="Google Sans"/>
            </a:endParaRPr>
          </a:p>
          <a:p>
            <a:pPr marL="0" indent="0" algn="l">
              <a:buNone/>
            </a:pPr>
            <a:endParaRPr lang="en" b="0" i="0" dirty="0">
              <a:effectLst/>
              <a:latin typeface="Google Sans"/>
            </a:endParaRPr>
          </a:p>
          <a:p>
            <a:pPr marL="0" indent="0" algn="l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9722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C3996-509B-453E-BB9C-2E6EB522F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05942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884810-A707-9ECA-3ED2-755A4A164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11185"/>
            <a:ext cx="9144000" cy="3046615"/>
          </a:xfrm>
        </p:spPr>
        <p:txBody>
          <a:bodyPr>
            <a:normAutofit/>
          </a:bodyPr>
          <a:lstStyle/>
          <a:p>
            <a:pPr marL="457200" indent="-457200" algn="l">
              <a:buAutoNum type="arabicParenR"/>
            </a:pPr>
            <a:r>
              <a:rPr lang="ru-RU" dirty="0"/>
              <a:t>Перейти на </a:t>
            </a:r>
            <a:r>
              <a:rPr lang="ru-RU" dirty="0" err="1"/>
              <a:t>гитхаб</a:t>
            </a:r>
            <a:r>
              <a:rPr lang="ru-RU" dirty="0"/>
              <a:t> (</a:t>
            </a:r>
            <a:r>
              <a:rPr lang="en" dirty="0" err="1"/>
              <a:t>github</a:t>
            </a:r>
            <a:r>
              <a:rPr lang="ru-RU" dirty="0"/>
              <a:t>) и на текущую дату создать блог о том,</a:t>
            </a:r>
            <a:r>
              <a:rPr lang="en-US" dirty="0"/>
              <a:t> </a:t>
            </a:r>
            <a:r>
              <a:rPr lang="ru-RU" dirty="0"/>
              <a:t>из каких имен и на каких уровнях иерархии состоит Доменное имя Вашего сайта</a:t>
            </a:r>
          </a:p>
          <a:p>
            <a:pPr marL="457200" indent="-457200" algn="l">
              <a:buAutoNum type="arabicParenR"/>
            </a:pPr>
            <a:r>
              <a:rPr lang="ru-RU" dirty="0"/>
              <a:t>Добавить в самое начало страницы блога рабочую ссылку на свою почту – Напишите мне</a:t>
            </a:r>
          </a:p>
        </p:txBody>
      </p:sp>
    </p:spTree>
    <p:extLst>
      <p:ext uri="{BB962C8B-B14F-4D97-AF65-F5344CB8AC3E}">
        <p14:creationId xmlns:p14="http://schemas.microsoft.com/office/powerpoint/2010/main" val="12521942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1406</TotalTime>
  <Words>822</Words>
  <Application>Microsoft Macintosh PowerPoint</Application>
  <PresentationFormat>Широкоэкранный</PresentationFormat>
  <Paragraphs>72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Google Sans</vt:lpstr>
      <vt:lpstr>SourceSansPro</vt:lpstr>
      <vt:lpstr>system-ui</vt:lpstr>
      <vt:lpstr>Тема Office</vt:lpstr>
      <vt:lpstr>Организационная структура - подчинение</vt:lpstr>
      <vt:lpstr>Классификация друзей и их отношений</vt:lpstr>
      <vt:lpstr>Функциональная структура (иерархическая)</vt:lpstr>
      <vt:lpstr>Кодекс профессиональной медицинской и корпоративной этики</vt:lpstr>
      <vt:lpstr>DNS (система доменных имен в сети Интернет)</vt:lpstr>
      <vt:lpstr>Зачем нужна DNS в сети Интернет?</vt:lpstr>
      <vt:lpstr>В свидетельстве о рождении сайта…</vt:lpstr>
      <vt:lpstr>Презентация PowerPoint</vt:lpstr>
      <vt:lpstr>Уязвимости DNS</vt:lpstr>
      <vt:lpstr>Http, https, ftp</vt:lpstr>
      <vt:lpstr>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Демидова</dc:creator>
  <cp:lastModifiedBy>Елена Демидова</cp:lastModifiedBy>
  <cp:revision>73</cp:revision>
  <dcterms:created xsi:type="dcterms:W3CDTF">2026-01-01T16:16:07Z</dcterms:created>
  <dcterms:modified xsi:type="dcterms:W3CDTF">2026-01-02T15:42:54Z</dcterms:modified>
</cp:coreProperties>
</file>